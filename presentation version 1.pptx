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da Bold" charset="1" panose="02000803000000000000"/>
      <p:regular r:id="rId11"/>
    </p:embeddedFont>
    <p:embeddedFont>
      <p:font typeface="Monda" charset="1" panose="02000503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2431" y="2206168"/>
            <a:ext cx="15556869" cy="883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8"/>
              </a:lnSpc>
            </a:pPr>
            <a:r>
              <a:rPr lang="en-US" sz="3570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Project Title</a:t>
            </a:r>
          </a:p>
          <a:p>
            <a:pPr algn="ctr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AegisIQ – AI-Powered Infrastructure Decision Intelligence Platform</a:t>
            </a:r>
          </a:p>
          <a:p>
            <a:pPr algn="ctr">
              <a:lnSpc>
                <a:spcPts val="4438"/>
              </a:lnSpc>
            </a:pPr>
            <a:r>
              <a:rPr lang="en-US" sz="3170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Tagline: Predict. Simulate. Protect</a:t>
            </a:r>
          </a:p>
          <a:p>
            <a:pPr algn="ctr">
              <a:lnSpc>
                <a:spcPts val="4438"/>
              </a:lnSpc>
            </a:pP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Team ID: H26DIS12                    </a:t>
            </a: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Team Leader: Sabariswaran M</a:t>
            </a:r>
          </a:p>
          <a:p>
            <a:pPr algn="l">
              <a:lnSpc>
                <a:spcPts val="4438"/>
              </a:lnSpc>
            </a:pP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Team Members:</a:t>
            </a: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Sabariswaran M</a:t>
            </a: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Sathyaraj K</a:t>
            </a: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Sridhar V</a:t>
            </a:r>
          </a:p>
          <a:p>
            <a:pPr algn="l">
              <a:lnSpc>
                <a:spcPts val="4438"/>
              </a:lnSpc>
            </a:pPr>
          </a:p>
          <a:p>
            <a:pPr algn="l">
              <a:lnSpc>
                <a:spcPts val="4438"/>
              </a:lnSpc>
            </a:pPr>
            <a:r>
              <a:rPr lang="en-US" sz="317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College Name Mangayarkarasi College of Engineering </a:t>
            </a:r>
          </a:p>
          <a:p>
            <a:pPr algn="ctr">
              <a:lnSpc>
                <a:spcPts val="122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240214" y="526390"/>
            <a:ext cx="12801040" cy="120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8"/>
              </a:lnSpc>
            </a:pPr>
            <a:r>
              <a:rPr lang="en-US" b="true" sz="7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TEAM DETAILS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8766" y="2951332"/>
            <a:ext cx="15590534" cy="788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4386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Problem Statement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•Modern IT infrastructures are highly interconnected.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•Small infrastructure changes can impact multiple services.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•Existing monitoring tools detect failures only after deployment.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•Organizations need a proactive solution to predict risks  before deployment.</a:t>
            </a:r>
          </a:p>
          <a:p>
            <a:pPr algn="ctr">
              <a:lnSpc>
                <a:spcPts val="6141"/>
              </a:lnSpc>
            </a:pPr>
          </a:p>
          <a:p>
            <a:pPr algn="l">
              <a:lnSpc>
                <a:spcPts val="6141"/>
              </a:lnSpc>
            </a:pPr>
            <a:r>
              <a:rPr lang="en-US" sz="4386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Objectives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•Predict deployment failures using AI.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•Analyze infrastructure dependencies.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•Simulate infrastructure changes using Digital Twin.</a:t>
            </a:r>
          </a:p>
          <a:p>
            <a:pPr algn="l">
              <a:lnSpc>
                <a:spcPts val="3799"/>
              </a:lnSpc>
            </a:pPr>
            <a:r>
              <a:rPr lang="en-US" sz="2714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•Calculate Technical and Business Risk Scores.</a:t>
            </a:r>
          </a:p>
          <a:p>
            <a:pPr algn="l">
              <a:lnSpc>
                <a:spcPts val="3929"/>
              </a:lnSpc>
            </a:pPr>
            <a:r>
              <a:rPr lang="en-US" sz="2807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•Recommend the safest deployment strategy.</a:t>
            </a:r>
          </a:p>
          <a:p>
            <a:pPr algn="l">
              <a:lnSpc>
                <a:spcPts val="4181"/>
              </a:lnSpc>
            </a:pPr>
            <a:r>
              <a:rPr lang="en-US" sz="298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•Reduce downtime and operational risks</a:t>
            </a:r>
          </a:p>
          <a:p>
            <a:pPr algn="ctr">
              <a:lnSpc>
                <a:spcPts val="614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07884" y="738514"/>
            <a:ext cx="9672231" cy="167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b="true" sz="4835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PROBLEM STATEMENT &amp; OBJECTIVES: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07884" y="381514"/>
            <a:ext cx="9672231" cy="167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b="true" sz="4835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EXISTING SOLUTIONS &amp; IDENTIFIED GAPS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38209" y="2509262"/>
            <a:ext cx="980313" cy="801406"/>
          </a:xfrm>
          <a:custGeom>
            <a:avLst/>
            <a:gdLst/>
            <a:ahLst/>
            <a:cxnLst/>
            <a:rect r="r" b="b" t="t" l="l"/>
            <a:pathLst>
              <a:path h="801406" w="980313">
                <a:moveTo>
                  <a:pt x="0" y="0"/>
                </a:moveTo>
                <a:lnTo>
                  <a:pt x="980312" y="0"/>
                </a:lnTo>
                <a:lnTo>
                  <a:pt x="980312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7119" y="2640707"/>
            <a:ext cx="10032869" cy="4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Existing Solutions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Grafana                         Datadog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Splunk                           Dynatrace</a:t>
            </a:r>
          </a:p>
          <a:p>
            <a:pPr algn="l">
              <a:lnSpc>
                <a:spcPts val="4275"/>
              </a:lnSpc>
            </a:pPr>
            <a:r>
              <a:rPr lang="en-US" sz="3053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Gaps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•Reactive Monitoring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•No Digital Twin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•Limited Risk Analysis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•No AI Recommendations</a:t>
            </a:r>
          </a:p>
          <a:p>
            <a:pPr algn="l">
              <a:lnSpc>
                <a:spcPts val="413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60945" y="7386549"/>
            <a:ext cx="980313" cy="801406"/>
          </a:xfrm>
          <a:custGeom>
            <a:avLst/>
            <a:gdLst/>
            <a:ahLst/>
            <a:cxnLst/>
            <a:rect r="r" b="b" t="t" l="l"/>
            <a:pathLst>
              <a:path h="801406" w="980313">
                <a:moveTo>
                  <a:pt x="0" y="0"/>
                </a:moveTo>
                <a:lnTo>
                  <a:pt x="980313" y="0"/>
                </a:lnTo>
                <a:lnTo>
                  <a:pt x="980313" y="801406"/>
                </a:lnTo>
                <a:lnTo>
                  <a:pt x="0" y="801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67119" y="7329399"/>
            <a:ext cx="10032869" cy="321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Our Solution – AegisIQ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•AI Risk Prediction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•Digital Twin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•Risk Scoring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•Smart Deployment</a:t>
            </a:r>
          </a:p>
          <a:p>
            <a:pPr algn="l">
              <a:lnSpc>
                <a:spcPts val="455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992795" y="591203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5" y="5948931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81375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57001" y="2225218"/>
            <a:ext cx="8610804" cy="858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Infrastructure Data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Data Collection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Dependency Analysis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Decision Twin Simulation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Explainable Decision Engine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Decision Confidence Score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sz="262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Smart Deployment Strategy</a:t>
            </a:r>
          </a:p>
          <a:p>
            <a:pPr algn="l">
              <a:lnSpc>
                <a:spcPts val="4055"/>
              </a:lnSpc>
            </a:pPr>
          </a:p>
          <a:p>
            <a:pPr algn="l">
              <a:lnSpc>
                <a:spcPts val="4055"/>
              </a:lnSpc>
            </a:pPr>
            <a:r>
              <a:rPr lang="en-US" sz="289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What-If Scenario Comparison</a:t>
            </a:r>
          </a:p>
          <a:p>
            <a:pPr algn="l">
              <a:lnSpc>
                <a:spcPts val="4055"/>
              </a:lnSpc>
            </a:pPr>
          </a:p>
          <a:p>
            <a:pPr algn="l">
              <a:lnSpc>
                <a:spcPts val="4055"/>
              </a:lnSpc>
            </a:pPr>
            <a:r>
              <a:rPr lang="en-US" sz="289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Interactive Dashboard</a:t>
            </a:r>
          </a:p>
          <a:p>
            <a:pPr algn="l">
              <a:lnSpc>
                <a:spcPts val="405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73584" y="1622083"/>
            <a:ext cx="587071" cy="650760"/>
          </a:xfrm>
          <a:custGeom>
            <a:avLst/>
            <a:gdLst/>
            <a:ahLst/>
            <a:cxnLst/>
            <a:rect r="r" b="b" t="t" l="l"/>
            <a:pathLst>
              <a:path h="650760" w="587071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>
            <a:off x="5820364" y="2640501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4391542" y="333559"/>
            <a:ext cx="9672231" cy="82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b="true" sz="4835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SYSTEM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80835" y="1318120"/>
            <a:ext cx="9086970" cy="132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9"/>
              </a:lnSpc>
            </a:pPr>
            <a:r>
              <a:rPr lang="en-US" sz="383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HIGH-LEVEL WORKFLOW </a:t>
            </a:r>
          </a:p>
          <a:p>
            <a:pPr algn="l">
              <a:lnSpc>
                <a:spcPts val="5369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5796816" y="3602439"/>
            <a:ext cx="0" cy="5165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5853949" y="4613316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 flipH="true">
            <a:off x="5887534" y="5425688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>
            <a:off x="5981017" y="8400154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H="true">
            <a:off x="5868493" y="6472197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>
            <a:off x="5902078" y="7466938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5988289" y="9478622"/>
            <a:ext cx="14544" cy="4857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711041" y="549801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5" y="5948931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2442" y="3728128"/>
            <a:ext cx="9847337" cy="4744355"/>
            <a:chOff x="0" y="0"/>
            <a:chExt cx="1088798" cy="5245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798" cy="524573"/>
            </a:xfrm>
            <a:custGeom>
              <a:avLst/>
              <a:gdLst/>
              <a:ahLst/>
              <a:cxnLst/>
              <a:rect r="r" b="b" t="t" l="l"/>
              <a:pathLst>
                <a:path h="524573" w="1088798">
                  <a:moveTo>
                    <a:pt x="18869" y="0"/>
                  </a:moveTo>
                  <a:lnTo>
                    <a:pt x="1069929" y="0"/>
                  </a:lnTo>
                  <a:cubicBezTo>
                    <a:pt x="1080350" y="0"/>
                    <a:pt x="1088798" y="8448"/>
                    <a:pt x="1088798" y="18869"/>
                  </a:cubicBezTo>
                  <a:lnTo>
                    <a:pt x="1088798" y="505704"/>
                  </a:lnTo>
                  <a:cubicBezTo>
                    <a:pt x="1088798" y="516125"/>
                    <a:pt x="1080350" y="524573"/>
                    <a:pt x="1069929" y="524573"/>
                  </a:cubicBezTo>
                  <a:lnTo>
                    <a:pt x="18869" y="524573"/>
                  </a:lnTo>
                  <a:cubicBezTo>
                    <a:pt x="8448" y="524573"/>
                    <a:pt x="0" y="516125"/>
                    <a:pt x="0" y="505704"/>
                  </a:cubicBezTo>
                  <a:lnTo>
                    <a:pt x="0" y="18869"/>
                  </a:lnTo>
                  <a:cubicBezTo>
                    <a:pt x="0" y="8448"/>
                    <a:pt x="8448" y="0"/>
                    <a:pt x="18869" y="0"/>
                  </a:cubicBezTo>
                  <a:close/>
                </a:path>
              </a:pathLst>
            </a:custGeom>
            <a:blipFill>
              <a:blip r:embed="rId7"/>
              <a:stretch>
                <a:fillRect l="-439" t="0" r="-6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75826" y="4008147"/>
            <a:ext cx="8537938" cy="168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Project UI Completed</a:t>
            </a:r>
          </a:p>
          <a:p>
            <a:pPr algn="l">
              <a:lnSpc>
                <a:spcPts val="4555"/>
              </a:lnSpc>
            </a:pP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Dashboard Developing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7884" y="2218119"/>
            <a:ext cx="9672231" cy="82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b="true" sz="4835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IMPLEMENTATION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DAHRBNkaP6s</dc:identifier>
  <dcterms:modified xsi:type="dcterms:W3CDTF">2011-08-01T06:04:30Z</dcterms:modified>
  <cp:revision>1</cp:revision>
  <dc:title>Blue Modern Elegant Presentation</dc:title>
</cp:coreProperties>
</file>