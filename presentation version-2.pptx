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chive" charset="1" panose="02000506040000020004"/>
      <p:regular r:id="rId16"/>
    </p:embeddedFont>
    <p:embeddedFont>
      <p:font typeface="ABeeZee" charset="1" panose="02000000000000000000"/>
      <p:regular r:id="rId17"/>
    </p:embeddedFont>
    <p:embeddedFont>
      <p:font typeface="ABeeZee Bold" charset="1" panose="02000000000000000000"/>
      <p:regular r:id="rId18"/>
    </p:embeddedFon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jpe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0.jpeg" Type="http://schemas.openxmlformats.org/officeDocument/2006/relationships/image"/><Relationship Id="rId9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3.png" Type="http://schemas.openxmlformats.org/officeDocument/2006/relationships/image"/><Relationship Id="rId9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33152"/>
            <a:ext cx="5353848" cy="5353848"/>
          </a:xfrm>
          <a:custGeom>
            <a:avLst/>
            <a:gdLst/>
            <a:ahLst/>
            <a:cxnLst/>
            <a:rect r="r" b="b" t="t" l="l"/>
            <a:pathLst>
              <a:path h="5353848" w="5353848">
                <a:moveTo>
                  <a:pt x="0" y="0"/>
                </a:moveTo>
                <a:lnTo>
                  <a:pt x="5353848" y="0"/>
                </a:lnTo>
                <a:lnTo>
                  <a:pt x="5353848" y="5353848"/>
                </a:lnTo>
                <a:lnTo>
                  <a:pt x="0" y="5353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7529791" cy="5982762"/>
          </a:xfrm>
          <a:custGeom>
            <a:avLst/>
            <a:gdLst/>
            <a:ahLst/>
            <a:cxnLst/>
            <a:rect r="r" b="b" t="t" l="l"/>
            <a:pathLst>
              <a:path h="5982762" w="7529791">
                <a:moveTo>
                  <a:pt x="7529791" y="0"/>
                </a:moveTo>
                <a:lnTo>
                  <a:pt x="0" y="0"/>
                </a:lnTo>
                <a:lnTo>
                  <a:pt x="0" y="5982762"/>
                </a:lnTo>
                <a:lnTo>
                  <a:pt x="7529791" y="5982762"/>
                </a:lnTo>
                <a:lnTo>
                  <a:pt x="752979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107960" y="6157696"/>
            <a:ext cx="5286987" cy="4200751"/>
          </a:xfrm>
          <a:custGeom>
            <a:avLst/>
            <a:gdLst/>
            <a:ahLst/>
            <a:cxnLst/>
            <a:rect r="r" b="b" t="t" l="l"/>
            <a:pathLst>
              <a:path h="4200751" w="5286987">
                <a:moveTo>
                  <a:pt x="0" y="4200751"/>
                </a:moveTo>
                <a:lnTo>
                  <a:pt x="5286986" y="4200751"/>
                </a:lnTo>
                <a:lnTo>
                  <a:pt x="5286986" y="0"/>
                </a:lnTo>
                <a:lnTo>
                  <a:pt x="0" y="0"/>
                </a:lnTo>
                <a:lnTo>
                  <a:pt x="0" y="420075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19527" y="474433"/>
            <a:ext cx="3368473" cy="1108534"/>
          </a:xfrm>
          <a:custGeom>
            <a:avLst/>
            <a:gdLst/>
            <a:ahLst/>
            <a:cxnLst/>
            <a:rect r="r" b="b" t="t" l="l"/>
            <a:pathLst>
              <a:path h="1108534" w="3368473">
                <a:moveTo>
                  <a:pt x="0" y="0"/>
                </a:moveTo>
                <a:lnTo>
                  <a:pt x="3368473" y="0"/>
                </a:lnTo>
                <a:lnTo>
                  <a:pt x="3368473" y="1108534"/>
                </a:lnTo>
                <a:lnTo>
                  <a:pt x="0" y="11085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40604" y="1016576"/>
            <a:ext cx="11378923" cy="197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4"/>
              </a:lnSpc>
              <a:spcBef>
                <a:spcPct val="0"/>
              </a:spcBef>
            </a:pPr>
            <a:r>
              <a:rPr lang="en-US" sz="11503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A</a:t>
            </a:r>
            <a:r>
              <a:rPr lang="en-US" sz="11503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egisIQ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42982" y="3122781"/>
            <a:ext cx="13160781" cy="665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AI-Powered Infrastructure Decision Intelligence Platform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42082" y="5269166"/>
            <a:ext cx="4618033" cy="665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Team ID:</a:t>
            </a:r>
            <a:r>
              <a:rPr lang="en-US" sz="38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 H26DIS12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27807" y="6326251"/>
            <a:ext cx="6242353" cy="665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Team Leader:</a:t>
            </a:r>
            <a:r>
              <a:rPr lang="en-US" sz="38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Sabariswaran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27807" y="7307725"/>
            <a:ext cx="3575623" cy="1332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Team Members: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613811" y="7307725"/>
            <a:ext cx="7137642" cy="665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Daniel K,Sabariswaran,Sridhar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80182" y="4289362"/>
            <a:ext cx="8045084" cy="665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Tagline: Predict. Simulate. Protect.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09198" y="8308252"/>
            <a:ext cx="10110942" cy="59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8"/>
              </a:lnSpc>
              <a:spcBef>
                <a:spcPct val="0"/>
              </a:spcBef>
            </a:pPr>
            <a:r>
              <a:rPr lang="en-US" b="true" sz="351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College:</a:t>
            </a:r>
            <a:r>
              <a:rPr lang="en-US" sz="35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Mangayarkarasi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62116" y="925830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0" y="1028700"/>
                </a:moveTo>
                <a:lnTo>
                  <a:pt x="3125884" y="1028700"/>
                </a:lnTo>
                <a:lnTo>
                  <a:pt x="3125884" y="0"/>
                </a:lnTo>
                <a:lnTo>
                  <a:pt x="0" y="0"/>
                </a:lnTo>
                <a:lnTo>
                  <a:pt x="0" y="1028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3125884" y="0"/>
                </a:moveTo>
                <a:lnTo>
                  <a:pt x="0" y="0"/>
                </a:lnTo>
                <a:lnTo>
                  <a:pt x="0" y="1028700"/>
                </a:lnTo>
                <a:lnTo>
                  <a:pt x="3125884" y="1028700"/>
                </a:lnTo>
                <a:lnTo>
                  <a:pt x="31258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68647" y="0"/>
            <a:ext cx="3219353" cy="3219353"/>
          </a:xfrm>
          <a:custGeom>
            <a:avLst/>
            <a:gdLst/>
            <a:ahLst/>
            <a:cxnLst/>
            <a:rect r="r" b="b" t="t" l="l"/>
            <a:pathLst>
              <a:path h="3219353" w="3219353">
                <a:moveTo>
                  <a:pt x="3219353" y="3219353"/>
                </a:moveTo>
                <a:lnTo>
                  <a:pt x="0" y="3219353"/>
                </a:lnTo>
                <a:lnTo>
                  <a:pt x="0" y="0"/>
                </a:lnTo>
                <a:lnTo>
                  <a:pt x="3219353" y="0"/>
                </a:lnTo>
                <a:lnTo>
                  <a:pt x="3219353" y="32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476490" y="6537413"/>
            <a:ext cx="3273097" cy="4226077"/>
          </a:xfrm>
          <a:custGeom>
            <a:avLst/>
            <a:gdLst/>
            <a:ahLst/>
            <a:cxnLst/>
            <a:rect r="r" b="b" t="t" l="l"/>
            <a:pathLst>
              <a:path h="4226077" w="3273097">
                <a:moveTo>
                  <a:pt x="0" y="0"/>
                </a:moveTo>
                <a:lnTo>
                  <a:pt x="3273097" y="0"/>
                </a:lnTo>
                <a:lnTo>
                  <a:pt x="3273097" y="4226077"/>
                </a:lnTo>
                <a:lnTo>
                  <a:pt x="0" y="42260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713826" y="2820792"/>
            <a:ext cx="4645415" cy="464541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8331" y="0"/>
                  </a:moveTo>
                  <a:lnTo>
                    <a:pt x="774469" y="0"/>
                  </a:lnTo>
                  <a:cubicBezTo>
                    <a:pt x="784635" y="0"/>
                    <a:pt x="794385" y="4038"/>
                    <a:pt x="801573" y="11227"/>
                  </a:cubicBezTo>
                  <a:cubicBezTo>
                    <a:pt x="808762" y="18415"/>
                    <a:pt x="812800" y="28165"/>
                    <a:pt x="812800" y="38331"/>
                  </a:cubicBezTo>
                  <a:lnTo>
                    <a:pt x="812800" y="774469"/>
                  </a:lnTo>
                  <a:cubicBezTo>
                    <a:pt x="812800" y="784635"/>
                    <a:pt x="808762" y="794385"/>
                    <a:pt x="801573" y="801573"/>
                  </a:cubicBezTo>
                  <a:cubicBezTo>
                    <a:pt x="794385" y="808762"/>
                    <a:pt x="784635" y="812800"/>
                    <a:pt x="774469" y="812800"/>
                  </a:cubicBezTo>
                  <a:lnTo>
                    <a:pt x="38331" y="812800"/>
                  </a:lnTo>
                  <a:cubicBezTo>
                    <a:pt x="28165" y="812800"/>
                    <a:pt x="18415" y="808762"/>
                    <a:pt x="11227" y="801573"/>
                  </a:cubicBezTo>
                  <a:cubicBezTo>
                    <a:pt x="4038" y="794385"/>
                    <a:pt x="0" y="784635"/>
                    <a:pt x="0" y="774469"/>
                  </a:cubicBezTo>
                  <a:lnTo>
                    <a:pt x="0" y="38331"/>
                  </a:lnTo>
                  <a:cubicBezTo>
                    <a:pt x="0" y="28165"/>
                    <a:pt x="4038" y="18415"/>
                    <a:pt x="11227" y="11227"/>
                  </a:cubicBezTo>
                  <a:cubicBezTo>
                    <a:pt x="18415" y="4038"/>
                    <a:pt x="28165" y="0"/>
                    <a:pt x="38331" y="0"/>
                  </a:cubicBezTo>
                  <a:close/>
                </a:path>
              </a:pathLst>
            </a:custGeom>
            <a:blipFill>
              <a:blip r:embed="rId8"/>
              <a:stretch>
                <a:fillRect l="-25136" t="0" r="-2513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380853" y="1018165"/>
            <a:ext cx="8875305" cy="106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  <a:spcBef>
                <a:spcPct val="0"/>
              </a:spcBef>
            </a:pPr>
            <a:r>
              <a:rPr lang="en-US" sz="6300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P</a:t>
            </a:r>
            <a:r>
              <a:rPr lang="en-US" sz="6300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roblem Statement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777" y="2495085"/>
            <a:ext cx="10922474" cy="270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Infrastructure changes are often deployed without understanding their impact, and existing tools detect failures only after deployment, leading to downtime and business disruption.</a:t>
            </a:r>
          </a:p>
          <a:p>
            <a:pPr algn="ctr">
              <a:lnSpc>
                <a:spcPts val="43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654669" y="5342752"/>
            <a:ext cx="3122634" cy="97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9"/>
              </a:lnSpc>
              <a:spcBef>
                <a:spcPct val="0"/>
              </a:spcBef>
            </a:pPr>
            <a:r>
              <a:rPr lang="en-US" sz="5699">
                <a:solidFill>
                  <a:srgbClr val="073F68"/>
                </a:solidFill>
                <a:latin typeface="ABeeZee Bold"/>
                <a:ea typeface="ABeeZee Bold"/>
                <a:cs typeface="ABeeZee Bold"/>
                <a:sym typeface="ABeeZee Bold"/>
              </a:rPr>
              <a:t>Objective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083161"/>
            <a:ext cx="10922474" cy="2202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</a:p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156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To predict deployment risks before production using simulation and intelligent deployment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3219353" cy="3219353"/>
          </a:xfrm>
          <a:custGeom>
            <a:avLst/>
            <a:gdLst/>
            <a:ahLst/>
            <a:cxnLst/>
            <a:rect r="r" b="b" t="t" l="l"/>
            <a:pathLst>
              <a:path h="3219353" w="3219353">
                <a:moveTo>
                  <a:pt x="0" y="3219353"/>
                </a:moveTo>
                <a:lnTo>
                  <a:pt x="3219353" y="3219353"/>
                </a:lnTo>
                <a:lnTo>
                  <a:pt x="3219353" y="0"/>
                </a:lnTo>
                <a:lnTo>
                  <a:pt x="0" y="0"/>
                </a:lnTo>
                <a:lnTo>
                  <a:pt x="0" y="32193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62116" y="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0" y="0"/>
                </a:moveTo>
                <a:lnTo>
                  <a:pt x="3125884" y="0"/>
                </a:lnTo>
                <a:lnTo>
                  <a:pt x="312588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925830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3125884" y="1028700"/>
                </a:moveTo>
                <a:lnTo>
                  <a:pt x="0" y="1028700"/>
                </a:lnTo>
                <a:lnTo>
                  <a:pt x="0" y="0"/>
                </a:lnTo>
                <a:lnTo>
                  <a:pt x="3125884" y="0"/>
                </a:lnTo>
                <a:lnTo>
                  <a:pt x="3125884" y="10287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3549343" y="6521922"/>
            <a:ext cx="4738657" cy="3765078"/>
          </a:xfrm>
          <a:custGeom>
            <a:avLst/>
            <a:gdLst/>
            <a:ahLst/>
            <a:cxnLst/>
            <a:rect r="r" b="b" t="t" l="l"/>
            <a:pathLst>
              <a:path h="3765078" w="4738657">
                <a:moveTo>
                  <a:pt x="0" y="3765078"/>
                </a:moveTo>
                <a:lnTo>
                  <a:pt x="4738657" y="3765078"/>
                </a:lnTo>
                <a:lnTo>
                  <a:pt x="4738657" y="0"/>
                </a:lnTo>
                <a:lnTo>
                  <a:pt x="0" y="0"/>
                </a:lnTo>
                <a:lnTo>
                  <a:pt x="0" y="376507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15623" y="438150"/>
            <a:ext cx="14462598" cy="211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6"/>
              </a:lnSpc>
            </a:pPr>
            <a:r>
              <a:rPr lang="en-US" sz="4018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System Desig</a:t>
            </a:r>
            <a:r>
              <a:rPr lang="en-US" sz="4018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n</a:t>
            </a:r>
          </a:p>
          <a:p>
            <a:pPr algn="ctr">
              <a:lnSpc>
                <a:spcPts val="5626"/>
              </a:lnSpc>
            </a:pPr>
            <a:r>
              <a:rPr lang="en-US" sz="4018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High-Level Architecture</a:t>
            </a:r>
          </a:p>
          <a:p>
            <a:pPr algn="ctr">
              <a:lnSpc>
                <a:spcPts val="5626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242859" y="1948627"/>
            <a:ext cx="9802282" cy="787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</a:t>
            </a: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USER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HTML • CSS • JavaScript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(Web Dashboard)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Spring Boot REST API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                                                                                    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Decision Twin                               Blast Radius                              Risk Engine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Simulation                                       Analysis                              (Rule-Based)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                  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└──────────────────────────────┘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    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Recommendation Engine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    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    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PostgreSQL Database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    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    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Deployment Decision Output</a:t>
            </a: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5276432" y="5273588"/>
            <a:ext cx="390937" cy="233522"/>
            <a:chOff x="0" y="0"/>
            <a:chExt cx="647700" cy="386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7700" cy="386896"/>
            </a:xfrm>
            <a:custGeom>
              <a:avLst/>
              <a:gdLst/>
              <a:ahLst/>
              <a:cxnLst/>
              <a:rect r="r" b="b" t="t" l="l"/>
              <a:pathLst>
                <a:path h="386896" w="647700">
                  <a:moveTo>
                    <a:pt x="239386" y="165468"/>
                  </a:moveTo>
                  <a:lnTo>
                    <a:pt x="647700" y="165468"/>
                  </a:lnTo>
                  <a:lnTo>
                    <a:pt x="647700" y="221417"/>
                  </a:lnTo>
                  <a:lnTo>
                    <a:pt x="239373" y="221417"/>
                  </a:lnTo>
                  <a:lnTo>
                    <a:pt x="302255" y="386896"/>
                  </a:lnTo>
                  <a:lnTo>
                    <a:pt x="0" y="193448"/>
                  </a:lnTo>
                  <a:lnTo>
                    <a:pt x="302255" y="0"/>
                  </a:lnTo>
                  <a:lnTo>
                    <a:pt x="239386" y="165468"/>
                  </a:lnTo>
                  <a:close/>
                </a:path>
              </a:pathLst>
            </a:custGeom>
            <a:solidFill>
              <a:srgbClr val="558BB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0650" y="127000"/>
              <a:ext cx="527050" cy="9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2986387" y="5273588"/>
            <a:ext cx="390937" cy="233522"/>
            <a:chOff x="0" y="0"/>
            <a:chExt cx="647700" cy="3868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7700" cy="386896"/>
            </a:xfrm>
            <a:custGeom>
              <a:avLst/>
              <a:gdLst/>
              <a:ahLst/>
              <a:cxnLst/>
              <a:rect r="r" b="b" t="t" l="l"/>
              <a:pathLst>
                <a:path h="386896" w="647700">
                  <a:moveTo>
                    <a:pt x="239386" y="165468"/>
                  </a:moveTo>
                  <a:lnTo>
                    <a:pt x="647700" y="165468"/>
                  </a:lnTo>
                  <a:lnTo>
                    <a:pt x="647700" y="221417"/>
                  </a:lnTo>
                  <a:lnTo>
                    <a:pt x="239373" y="221417"/>
                  </a:lnTo>
                  <a:lnTo>
                    <a:pt x="302255" y="386896"/>
                  </a:lnTo>
                  <a:lnTo>
                    <a:pt x="0" y="193448"/>
                  </a:lnTo>
                  <a:lnTo>
                    <a:pt x="302255" y="0"/>
                  </a:lnTo>
                  <a:lnTo>
                    <a:pt x="239386" y="165468"/>
                  </a:lnTo>
                  <a:close/>
                </a:path>
              </a:pathLst>
            </a:custGeom>
            <a:solidFill>
              <a:srgbClr val="558BB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0650" y="127000"/>
              <a:ext cx="527050" cy="9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9161672" y="5273588"/>
            <a:ext cx="390937" cy="233522"/>
            <a:chOff x="0" y="0"/>
            <a:chExt cx="647700" cy="3868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7700" cy="386896"/>
            </a:xfrm>
            <a:custGeom>
              <a:avLst/>
              <a:gdLst/>
              <a:ahLst/>
              <a:cxnLst/>
              <a:rect r="r" b="b" t="t" l="l"/>
              <a:pathLst>
                <a:path h="386896" w="647700">
                  <a:moveTo>
                    <a:pt x="239386" y="165468"/>
                  </a:moveTo>
                  <a:lnTo>
                    <a:pt x="647700" y="165468"/>
                  </a:lnTo>
                  <a:lnTo>
                    <a:pt x="647700" y="221417"/>
                  </a:lnTo>
                  <a:lnTo>
                    <a:pt x="239373" y="221417"/>
                  </a:lnTo>
                  <a:lnTo>
                    <a:pt x="302255" y="386896"/>
                  </a:lnTo>
                  <a:lnTo>
                    <a:pt x="0" y="193448"/>
                  </a:lnTo>
                  <a:lnTo>
                    <a:pt x="302255" y="0"/>
                  </a:lnTo>
                  <a:lnTo>
                    <a:pt x="239386" y="165468"/>
                  </a:lnTo>
                  <a:close/>
                </a:path>
              </a:pathLst>
            </a:custGeom>
            <a:solidFill>
              <a:srgbClr val="558BB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27000"/>
              <a:ext cx="527050" cy="9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5421815" y="4988914"/>
            <a:ext cx="779234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-5400000">
            <a:off x="9161672" y="3932009"/>
            <a:ext cx="390937" cy="233522"/>
            <a:chOff x="0" y="0"/>
            <a:chExt cx="647700" cy="3868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7700" cy="386896"/>
            </a:xfrm>
            <a:custGeom>
              <a:avLst/>
              <a:gdLst/>
              <a:ahLst/>
              <a:cxnLst/>
              <a:rect r="r" b="b" t="t" l="l"/>
              <a:pathLst>
                <a:path h="386896" w="647700">
                  <a:moveTo>
                    <a:pt x="239386" y="165468"/>
                  </a:moveTo>
                  <a:lnTo>
                    <a:pt x="647700" y="165468"/>
                  </a:lnTo>
                  <a:lnTo>
                    <a:pt x="647700" y="221417"/>
                  </a:lnTo>
                  <a:lnTo>
                    <a:pt x="239373" y="221417"/>
                  </a:lnTo>
                  <a:lnTo>
                    <a:pt x="302255" y="386896"/>
                  </a:lnTo>
                  <a:lnTo>
                    <a:pt x="0" y="193448"/>
                  </a:lnTo>
                  <a:lnTo>
                    <a:pt x="302255" y="0"/>
                  </a:lnTo>
                  <a:lnTo>
                    <a:pt x="239386" y="165468"/>
                  </a:lnTo>
                  <a:close/>
                </a:path>
              </a:pathLst>
            </a:custGeom>
            <a:solidFill>
              <a:srgbClr val="558BB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0650" y="127000"/>
              <a:ext cx="527050" cy="9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9173658" y="2524270"/>
            <a:ext cx="390937" cy="233522"/>
            <a:chOff x="0" y="0"/>
            <a:chExt cx="647700" cy="3868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7700" cy="386896"/>
            </a:xfrm>
            <a:custGeom>
              <a:avLst/>
              <a:gdLst/>
              <a:ahLst/>
              <a:cxnLst/>
              <a:rect r="r" b="b" t="t" l="l"/>
              <a:pathLst>
                <a:path h="386896" w="647700">
                  <a:moveTo>
                    <a:pt x="239386" y="165468"/>
                  </a:moveTo>
                  <a:lnTo>
                    <a:pt x="647700" y="165468"/>
                  </a:lnTo>
                  <a:lnTo>
                    <a:pt x="647700" y="221417"/>
                  </a:lnTo>
                  <a:lnTo>
                    <a:pt x="239373" y="221417"/>
                  </a:lnTo>
                  <a:lnTo>
                    <a:pt x="302255" y="386896"/>
                  </a:lnTo>
                  <a:lnTo>
                    <a:pt x="0" y="193448"/>
                  </a:lnTo>
                  <a:lnTo>
                    <a:pt x="302255" y="0"/>
                  </a:lnTo>
                  <a:lnTo>
                    <a:pt x="239386" y="165468"/>
                  </a:lnTo>
                  <a:close/>
                </a:path>
              </a:pathLst>
            </a:custGeom>
            <a:solidFill>
              <a:srgbClr val="558BB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20650" y="127000"/>
              <a:ext cx="527050" cy="9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5400000">
            <a:off x="9228114" y="7147352"/>
            <a:ext cx="390937" cy="233522"/>
            <a:chOff x="0" y="0"/>
            <a:chExt cx="647700" cy="3868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7700" cy="386896"/>
            </a:xfrm>
            <a:custGeom>
              <a:avLst/>
              <a:gdLst/>
              <a:ahLst/>
              <a:cxnLst/>
              <a:rect r="r" b="b" t="t" l="l"/>
              <a:pathLst>
                <a:path h="386896" w="647700">
                  <a:moveTo>
                    <a:pt x="239386" y="165468"/>
                  </a:moveTo>
                  <a:lnTo>
                    <a:pt x="647700" y="165468"/>
                  </a:lnTo>
                  <a:lnTo>
                    <a:pt x="647700" y="221417"/>
                  </a:lnTo>
                  <a:lnTo>
                    <a:pt x="239373" y="221417"/>
                  </a:lnTo>
                  <a:lnTo>
                    <a:pt x="302255" y="386896"/>
                  </a:lnTo>
                  <a:lnTo>
                    <a:pt x="0" y="193448"/>
                  </a:lnTo>
                  <a:lnTo>
                    <a:pt x="302255" y="0"/>
                  </a:lnTo>
                  <a:lnTo>
                    <a:pt x="239386" y="165468"/>
                  </a:lnTo>
                  <a:close/>
                </a:path>
              </a:pathLst>
            </a:custGeom>
            <a:solidFill>
              <a:srgbClr val="558BB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20650" y="127000"/>
              <a:ext cx="527050" cy="9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9228114" y="8092232"/>
            <a:ext cx="390937" cy="233522"/>
            <a:chOff x="0" y="0"/>
            <a:chExt cx="647700" cy="3868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7700" cy="386896"/>
            </a:xfrm>
            <a:custGeom>
              <a:avLst/>
              <a:gdLst/>
              <a:ahLst/>
              <a:cxnLst/>
              <a:rect r="r" b="b" t="t" l="l"/>
              <a:pathLst>
                <a:path h="386896" w="647700">
                  <a:moveTo>
                    <a:pt x="239386" y="165468"/>
                  </a:moveTo>
                  <a:lnTo>
                    <a:pt x="647700" y="165468"/>
                  </a:lnTo>
                  <a:lnTo>
                    <a:pt x="647700" y="221417"/>
                  </a:lnTo>
                  <a:lnTo>
                    <a:pt x="239373" y="221417"/>
                  </a:lnTo>
                  <a:lnTo>
                    <a:pt x="302255" y="386896"/>
                  </a:lnTo>
                  <a:lnTo>
                    <a:pt x="0" y="193448"/>
                  </a:lnTo>
                  <a:lnTo>
                    <a:pt x="302255" y="0"/>
                  </a:lnTo>
                  <a:lnTo>
                    <a:pt x="239386" y="165468"/>
                  </a:lnTo>
                  <a:close/>
                </a:path>
              </a:pathLst>
            </a:custGeom>
            <a:solidFill>
              <a:srgbClr val="558BB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20650" y="127000"/>
              <a:ext cx="527050" cy="9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5400000">
            <a:off x="9228114" y="9037111"/>
            <a:ext cx="390937" cy="233522"/>
            <a:chOff x="0" y="0"/>
            <a:chExt cx="647700" cy="3868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7700" cy="386896"/>
            </a:xfrm>
            <a:custGeom>
              <a:avLst/>
              <a:gdLst/>
              <a:ahLst/>
              <a:cxnLst/>
              <a:rect r="r" b="b" t="t" l="l"/>
              <a:pathLst>
                <a:path h="386896" w="647700">
                  <a:moveTo>
                    <a:pt x="239386" y="165468"/>
                  </a:moveTo>
                  <a:lnTo>
                    <a:pt x="647700" y="165468"/>
                  </a:lnTo>
                  <a:lnTo>
                    <a:pt x="647700" y="221417"/>
                  </a:lnTo>
                  <a:lnTo>
                    <a:pt x="239373" y="221417"/>
                  </a:lnTo>
                  <a:lnTo>
                    <a:pt x="302255" y="386896"/>
                  </a:lnTo>
                  <a:lnTo>
                    <a:pt x="0" y="193448"/>
                  </a:lnTo>
                  <a:lnTo>
                    <a:pt x="302255" y="0"/>
                  </a:lnTo>
                  <a:lnTo>
                    <a:pt x="239386" y="165468"/>
                  </a:lnTo>
                  <a:close/>
                </a:path>
              </a:pathLst>
            </a:custGeom>
            <a:solidFill>
              <a:srgbClr val="558BB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20650" y="127000"/>
              <a:ext cx="527050" cy="9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62116" y="925830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0" y="1028700"/>
                </a:moveTo>
                <a:lnTo>
                  <a:pt x="3125884" y="1028700"/>
                </a:lnTo>
                <a:lnTo>
                  <a:pt x="3125884" y="0"/>
                </a:lnTo>
                <a:lnTo>
                  <a:pt x="0" y="0"/>
                </a:lnTo>
                <a:lnTo>
                  <a:pt x="0" y="1028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3125884" y="0"/>
                </a:moveTo>
                <a:lnTo>
                  <a:pt x="0" y="0"/>
                </a:lnTo>
                <a:lnTo>
                  <a:pt x="0" y="1028700"/>
                </a:lnTo>
                <a:lnTo>
                  <a:pt x="3125884" y="1028700"/>
                </a:lnTo>
                <a:lnTo>
                  <a:pt x="31258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68647" y="0"/>
            <a:ext cx="3219353" cy="3219353"/>
          </a:xfrm>
          <a:custGeom>
            <a:avLst/>
            <a:gdLst/>
            <a:ahLst/>
            <a:cxnLst/>
            <a:rect r="r" b="b" t="t" l="l"/>
            <a:pathLst>
              <a:path h="3219353" w="3219353">
                <a:moveTo>
                  <a:pt x="3219353" y="3219353"/>
                </a:moveTo>
                <a:lnTo>
                  <a:pt x="0" y="3219353"/>
                </a:lnTo>
                <a:lnTo>
                  <a:pt x="0" y="0"/>
                </a:lnTo>
                <a:lnTo>
                  <a:pt x="3219353" y="0"/>
                </a:lnTo>
                <a:lnTo>
                  <a:pt x="3219353" y="32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0" y="6521922"/>
            <a:ext cx="4738657" cy="3765078"/>
          </a:xfrm>
          <a:custGeom>
            <a:avLst/>
            <a:gdLst/>
            <a:ahLst/>
            <a:cxnLst/>
            <a:rect r="r" b="b" t="t" l="l"/>
            <a:pathLst>
              <a:path h="3765078" w="4738657">
                <a:moveTo>
                  <a:pt x="4738657" y="3765078"/>
                </a:moveTo>
                <a:lnTo>
                  <a:pt x="0" y="3765078"/>
                </a:lnTo>
                <a:lnTo>
                  <a:pt x="0" y="0"/>
                </a:lnTo>
                <a:lnTo>
                  <a:pt x="4738657" y="0"/>
                </a:lnTo>
                <a:lnTo>
                  <a:pt x="4738657" y="376507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48590" y="1909190"/>
            <a:ext cx="2372389" cy="768855"/>
            <a:chOff x="0" y="0"/>
            <a:chExt cx="2507987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07987" cy="812800"/>
            </a:xfrm>
            <a:custGeom>
              <a:avLst/>
              <a:gdLst/>
              <a:ahLst/>
              <a:cxnLst/>
              <a:rect r="r" b="b" t="t" l="l"/>
              <a:pathLst>
                <a:path h="812800" w="2507987">
                  <a:moveTo>
                    <a:pt x="1253994" y="0"/>
                  </a:moveTo>
                  <a:cubicBezTo>
                    <a:pt x="561432" y="0"/>
                    <a:pt x="0" y="181951"/>
                    <a:pt x="0" y="406400"/>
                  </a:cubicBezTo>
                  <a:cubicBezTo>
                    <a:pt x="0" y="630849"/>
                    <a:pt x="561432" y="812800"/>
                    <a:pt x="1253994" y="812800"/>
                  </a:cubicBezTo>
                  <a:cubicBezTo>
                    <a:pt x="1946555" y="812800"/>
                    <a:pt x="2507987" y="630849"/>
                    <a:pt x="2507987" y="406400"/>
                  </a:cubicBezTo>
                  <a:cubicBezTo>
                    <a:pt x="2507987" y="181951"/>
                    <a:pt x="1946555" y="0"/>
                    <a:pt x="1253994" y="0"/>
                  </a:cubicBezTo>
                  <a:close/>
                </a:path>
              </a:pathLst>
            </a:custGeom>
            <a:solidFill>
              <a:srgbClr val="7BBCD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235124" y="38100"/>
              <a:ext cx="2037739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56493" y="3380843"/>
            <a:ext cx="5363187" cy="449460"/>
            <a:chOff x="0" y="0"/>
            <a:chExt cx="1412527" cy="1183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2526" cy="118376"/>
            </a:xfrm>
            <a:custGeom>
              <a:avLst/>
              <a:gdLst/>
              <a:ahLst/>
              <a:cxnLst/>
              <a:rect r="r" b="b" t="t" l="l"/>
              <a:pathLst>
                <a:path h="118376" w="1412526">
                  <a:moveTo>
                    <a:pt x="0" y="0"/>
                  </a:moveTo>
                  <a:lnTo>
                    <a:pt x="1412526" y="0"/>
                  </a:lnTo>
                  <a:lnTo>
                    <a:pt x="1412526" y="118376"/>
                  </a:lnTo>
                  <a:lnTo>
                    <a:pt x="0" y="118376"/>
                  </a:lnTo>
                  <a:close/>
                </a:path>
              </a:pathLst>
            </a:custGeom>
            <a:solidFill>
              <a:srgbClr val="7BBCD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12527" cy="156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67863" y="4321753"/>
            <a:ext cx="5651817" cy="1643494"/>
            <a:chOff x="0" y="0"/>
            <a:chExt cx="1361352" cy="3958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387" y="3110"/>
              <a:ext cx="1328578" cy="389649"/>
            </a:xfrm>
            <a:custGeom>
              <a:avLst/>
              <a:gdLst/>
              <a:ahLst/>
              <a:cxnLst/>
              <a:rect r="r" b="b" t="t" l="l"/>
              <a:pathLst>
                <a:path h="389649" w="1328578">
                  <a:moveTo>
                    <a:pt x="685252" y="2986"/>
                  </a:moveTo>
                  <a:lnTo>
                    <a:pt x="1324002" y="188728"/>
                  </a:lnTo>
                  <a:cubicBezTo>
                    <a:pt x="1326713" y="189517"/>
                    <a:pt x="1328578" y="192001"/>
                    <a:pt x="1328578" y="194824"/>
                  </a:cubicBezTo>
                  <a:cubicBezTo>
                    <a:pt x="1328578" y="197647"/>
                    <a:pt x="1326713" y="200132"/>
                    <a:pt x="1324002" y="200920"/>
                  </a:cubicBezTo>
                  <a:lnTo>
                    <a:pt x="685252" y="386662"/>
                  </a:lnTo>
                  <a:cubicBezTo>
                    <a:pt x="671560" y="390644"/>
                    <a:pt x="657018" y="390644"/>
                    <a:pt x="643326" y="386662"/>
                  </a:cubicBezTo>
                  <a:lnTo>
                    <a:pt x="4576" y="200920"/>
                  </a:lnTo>
                  <a:cubicBezTo>
                    <a:pt x="1865" y="200132"/>
                    <a:pt x="0" y="197647"/>
                    <a:pt x="0" y="194824"/>
                  </a:cubicBezTo>
                  <a:cubicBezTo>
                    <a:pt x="0" y="192001"/>
                    <a:pt x="1865" y="189517"/>
                    <a:pt x="4576" y="188728"/>
                  </a:cubicBezTo>
                  <a:lnTo>
                    <a:pt x="643326" y="2986"/>
                  </a:lnTo>
                  <a:cubicBezTo>
                    <a:pt x="657018" y="-996"/>
                    <a:pt x="671560" y="-996"/>
                    <a:pt x="685252" y="2986"/>
                  </a:cubicBezTo>
                  <a:close/>
                </a:path>
              </a:pathLst>
            </a:custGeom>
            <a:solidFill>
              <a:srgbClr val="7BBCD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20318" y="48798"/>
              <a:ext cx="720716" cy="26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705323" y="9506798"/>
            <a:ext cx="2982721" cy="631459"/>
            <a:chOff x="0" y="0"/>
            <a:chExt cx="812800" cy="1720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172074"/>
            </a:xfrm>
            <a:custGeom>
              <a:avLst/>
              <a:gdLst/>
              <a:ahLst/>
              <a:cxnLst/>
              <a:rect r="r" b="b" t="t" l="l"/>
              <a:pathLst>
                <a:path h="172074" w="812800">
                  <a:moveTo>
                    <a:pt x="406400" y="0"/>
                  </a:moveTo>
                  <a:cubicBezTo>
                    <a:pt x="181951" y="0"/>
                    <a:pt x="0" y="38520"/>
                    <a:pt x="0" y="86037"/>
                  </a:cubicBezTo>
                  <a:cubicBezTo>
                    <a:pt x="0" y="133554"/>
                    <a:pt x="181951" y="172074"/>
                    <a:pt x="406400" y="172074"/>
                  </a:cubicBezTo>
                  <a:cubicBezTo>
                    <a:pt x="630849" y="172074"/>
                    <a:pt x="812800" y="133554"/>
                    <a:pt x="812800" y="86037"/>
                  </a:cubicBezTo>
                  <a:cubicBezTo>
                    <a:pt x="812800" y="385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BBCD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-21968"/>
              <a:ext cx="660400" cy="177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81137" y="8553822"/>
            <a:ext cx="4662454" cy="443348"/>
            <a:chOff x="0" y="0"/>
            <a:chExt cx="1227972" cy="1167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27972" cy="116767"/>
            </a:xfrm>
            <a:custGeom>
              <a:avLst/>
              <a:gdLst/>
              <a:ahLst/>
              <a:cxnLst/>
              <a:rect r="r" b="b" t="t" l="l"/>
              <a:pathLst>
                <a:path h="116767" w="1227972">
                  <a:moveTo>
                    <a:pt x="0" y="0"/>
                  </a:moveTo>
                  <a:lnTo>
                    <a:pt x="1227972" y="0"/>
                  </a:lnTo>
                  <a:lnTo>
                    <a:pt x="1227972" y="116767"/>
                  </a:lnTo>
                  <a:lnTo>
                    <a:pt x="0" y="116767"/>
                  </a:lnTo>
                  <a:close/>
                </a:path>
              </a:pathLst>
            </a:custGeom>
            <a:solidFill>
              <a:srgbClr val="7BBCD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27972" cy="154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41191" y="7660397"/>
            <a:ext cx="3086100" cy="348519"/>
            <a:chOff x="0" y="0"/>
            <a:chExt cx="812800" cy="917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91791"/>
            </a:xfrm>
            <a:custGeom>
              <a:avLst/>
              <a:gdLst/>
              <a:ahLst/>
              <a:cxnLst/>
              <a:rect r="r" b="b" t="t" l="l"/>
              <a:pathLst>
                <a:path h="9179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1791"/>
                  </a:lnTo>
                  <a:lnTo>
                    <a:pt x="0" y="91791"/>
                  </a:lnTo>
                  <a:close/>
                </a:path>
              </a:pathLst>
            </a:custGeom>
            <a:solidFill>
              <a:srgbClr val="7BBCD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12800" cy="129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955631" y="6562831"/>
            <a:ext cx="4313467" cy="450375"/>
            <a:chOff x="0" y="0"/>
            <a:chExt cx="1136057" cy="1186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6057" cy="118617"/>
            </a:xfrm>
            <a:custGeom>
              <a:avLst/>
              <a:gdLst/>
              <a:ahLst/>
              <a:cxnLst/>
              <a:rect r="r" b="b" t="t" l="l"/>
              <a:pathLst>
                <a:path h="118617" w="1136057">
                  <a:moveTo>
                    <a:pt x="0" y="0"/>
                  </a:moveTo>
                  <a:lnTo>
                    <a:pt x="1136057" y="0"/>
                  </a:lnTo>
                  <a:lnTo>
                    <a:pt x="1136057" y="118617"/>
                  </a:lnTo>
                  <a:lnTo>
                    <a:pt x="0" y="118617"/>
                  </a:lnTo>
                  <a:close/>
                </a:path>
              </a:pathLst>
            </a:custGeom>
            <a:solidFill>
              <a:srgbClr val="7BBCD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136057" cy="156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372410" y="174835"/>
            <a:ext cx="9449711" cy="215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4086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 Algo</a:t>
            </a:r>
            <a:r>
              <a:rPr lang="en-US" sz="4086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rithm</a:t>
            </a:r>
          </a:p>
          <a:p>
            <a:pPr algn="ctr">
              <a:lnSpc>
                <a:spcPts val="5720"/>
              </a:lnSpc>
            </a:pPr>
            <a:r>
              <a:rPr lang="en-US" sz="4086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AegisIQ Workflow</a:t>
            </a:r>
          </a:p>
          <a:p>
            <a:pPr algn="ctr">
              <a:lnSpc>
                <a:spcPts val="5720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8696786" y="2022127"/>
            <a:ext cx="932243" cy="49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Start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56493" y="3248886"/>
            <a:ext cx="5363187" cy="49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 Infrastructure Change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81137" y="4840885"/>
            <a:ext cx="4662454" cy="49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2999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ecision Twin Simulation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62903" y="7563166"/>
            <a:ext cx="3042675" cy="49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2999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isk Calculation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81137" y="8506197"/>
            <a:ext cx="4831094" cy="933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9"/>
              </a:lnSpc>
            </a:pPr>
            <a:r>
              <a:rPr lang="en-US" b="true" sz="2735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</a:t>
            </a:r>
            <a:r>
              <a:rPr lang="en-US" b="true" sz="2735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ate Recommendation</a:t>
            </a:r>
          </a:p>
          <a:p>
            <a:pPr algn="l">
              <a:lnSpc>
                <a:spcPts val="382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8228892" y="9544431"/>
            <a:ext cx="2246075" cy="45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4"/>
              </a:lnSpc>
            </a:pPr>
            <a:r>
              <a:rPr lang="en-US" sz="2646" b="true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Deploy /</a:t>
            </a:r>
            <a:r>
              <a:rPr lang="en-US" b="true" sz="2646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Stop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45941" y="6474297"/>
            <a:ext cx="4302649" cy="49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Depenetence analaysis</a:t>
            </a:r>
          </a:p>
        </p:txBody>
      </p:sp>
      <p:sp>
        <p:nvSpPr>
          <p:cNvPr name="AutoShape 35" id="35"/>
          <p:cNvSpPr/>
          <p:nvPr/>
        </p:nvSpPr>
        <p:spPr>
          <a:xfrm>
            <a:off x="9300768" y="2763770"/>
            <a:ext cx="0" cy="549740"/>
          </a:xfrm>
          <a:prstGeom prst="line">
            <a:avLst/>
          </a:prstGeom>
          <a:ln cap="flat" w="38100">
            <a:solidFill>
              <a:srgbClr val="000000">
                <a:alpha val="56863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>
            <a:off x="9281718" y="3826140"/>
            <a:ext cx="0" cy="549740"/>
          </a:xfrm>
          <a:prstGeom prst="line">
            <a:avLst/>
          </a:prstGeom>
          <a:ln cap="flat" w="38100">
            <a:solidFill>
              <a:srgbClr val="000000">
                <a:alpha val="56863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>
            <a:off x="9215734" y="5972182"/>
            <a:ext cx="0" cy="549740"/>
          </a:xfrm>
          <a:prstGeom prst="line">
            <a:avLst/>
          </a:prstGeom>
          <a:ln cap="flat" w="38100">
            <a:solidFill>
              <a:srgbClr val="000000">
                <a:alpha val="56863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>
            <a:off x="9234784" y="7051307"/>
            <a:ext cx="0" cy="549740"/>
          </a:xfrm>
          <a:prstGeom prst="line">
            <a:avLst/>
          </a:prstGeom>
          <a:ln cap="flat" w="38100">
            <a:solidFill>
              <a:srgbClr val="000000">
                <a:alpha val="55686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>
            <a:off x="9234784" y="8018441"/>
            <a:ext cx="0" cy="549740"/>
          </a:xfrm>
          <a:prstGeom prst="line">
            <a:avLst/>
          </a:prstGeom>
          <a:ln cap="flat" w="38100">
            <a:solidFill>
              <a:srgbClr val="000000">
                <a:alpha val="55686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0" id="40"/>
          <p:cNvSpPr/>
          <p:nvPr/>
        </p:nvSpPr>
        <p:spPr>
          <a:xfrm>
            <a:off x="9215734" y="8957058"/>
            <a:ext cx="0" cy="549740"/>
          </a:xfrm>
          <a:prstGeom prst="line">
            <a:avLst/>
          </a:prstGeom>
          <a:ln cap="flat" w="38100">
            <a:solidFill>
              <a:srgbClr val="000000">
                <a:alpha val="56863"/>
              </a:srgbClr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62116" y="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0" y="0"/>
                </a:moveTo>
                <a:lnTo>
                  <a:pt x="3125884" y="0"/>
                </a:lnTo>
                <a:lnTo>
                  <a:pt x="312588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925830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3125884" y="1028700"/>
                </a:moveTo>
                <a:lnTo>
                  <a:pt x="0" y="1028700"/>
                </a:lnTo>
                <a:lnTo>
                  <a:pt x="0" y="0"/>
                </a:lnTo>
                <a:lnTo>
                  <a:pt x="3125884" y="0"/>
                </a:lnTo>
                <a:lnTo>
                  <a:pt x="3125884" y="1028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400000">
            <a:off x="476490" y="-476490"/>
            <a:ext cx="3273097" cy="4226077"/>
          </a:xfrm>
          <a:custGeom>
            <a:avLst/>
            <a:gdLst/>
            <a:ahLst/>
            <a:cxnLst/>
            <a:rect r="r" b="b" t="t" l="l"/>
            <a:pathLst>
              <a:path h="4226077" w="3273097">
                <a:moveTo>
                  <a:pt x="3273097" y="0"/>
                </a:moveTo>
                <a:lnTo>
                  <a:pt x="0" y="0"/>
                </a:lnTo>
                <a:lnTo>
                  <a:pt x="0" y="4226077"/>
                </a:lnTo>
                <a:lnTo>
                  <a:pt x="3273097" y="4226077"/>
                </a:lnTo>
                <a:lnTo>
                  <a:pt x="327309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068647" y="7067647"/>
            <a:ext cx="3219353" cy="3219353"/>
          </a:xfrm>
          <a:custGeom>
            <a:avLst/>
            <a:gdLst/>
            <a:ahLst/>
            <a:cxnLst/>
            <a:rect r="r" b="b" t="t" l="l"/>
            <a:pathLst>
              <a:path h="3219353" w="3219353">
                <a:moveTo>
                  <a:pt x="3219353" y="0"/>
                </a:moveTo>
                <a:lnTo>
                  <a:pt x="0" y="0"/>
                </a:lnTo>
                <a:lnTo>
                  <a:pt x="0" y="3219353"/>
                </a:lnTo>
                <a:lnTo>
                  <a:pt x="3219353" y="3219353"/>
                </a:lnTo>
                <a:lnTo>
                  <a:pt x="32193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67414" y="2448954"/>
            <a:ext cx="3596266" cy="3919855"/>
            <a:chOff x="0" y="0"/>
            <a:chExt cx="1048798" cy="11431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8798" cy="1143168"/>
            </a:xfrm>
            <a:custGeom>
              <a:avLst/>
              <a:gdLst/>
              <a:ahLst/>
              <a:cxnLst/>
              <a:rect r="r" b="b" t="t" l="l"/>
              <a:pathLst>
                <a:path h="1143168" w="1048798">
                  <a:moveTo>
                    <a:pt x="36597" y="0"/>
                  </a:moveTo>
                  <a:lnTo>
                    <a:pt x="1012201" y="0"/>
                  </a:lnTo>
                  <a:cubicBezTo>
                    <a:pt x="1021907" y="0"/>
                    <a:pt x="1031216" y="3856"/>
                    <a:pt x="1038079" y="10719"/>
                  </a:cubicBezTo>
                  <a:cubicBezTo>
                    <a:pt x="1044943" y="17582"/>
                    <a:pt x="1048798" y="26891"/>
                    <a:pt x="1048798" y="36597"/>
                  </a:cubicBezTo>
                  <a:lnTo>
                    <a:pt x="1048798" y="1106571"/>
                  </a:lnTo>
                  <a:cubicBezTo>
                    <a:pt x="1048798" y="1116277"/>
                    <a:pt x="1044943" y="1125586"/>
                    <a:pt x="1038079" y="1132449"/>
                  </a:cubicBezTo>
                  <a:cubicBezTo>
                    <a:pt x="1031216" y="1139313"/>
                    <a:pt x="1021907" y="1143168"/>
                    <a:pt x="1012201" y="1143168"/>
                  </a:cubicBezTo>
                  <a:lnTo>
                    <a:pt x="36597" y="1143168"/>
                  </a:lnTo>
                  <a:cubicBezTo>
                    <a:pt x="16385" y="1143168"/>
                    <a:pt x="0" y="1126783"/>
                    <a:pt x="0" y="1106571"/>
                  </a:cubicBezTo>
                  <a:lnTo>
                    <a:pt x="0" y="36597"/>
                  </a:lnTo>
                  <a:cubicBezTo>
                    <a:pt x="0" y="26891"/>
                    <a:pt x="3856" y="17582"/>
                    <a:pt x="10719" y="10719"/>
                  </a:cubicBezTo>
                  <a:cubicBezTo>
                    <a:pt x="17582" y="3856"/>
                    <a:pt x="26891" y="0"/>
                    <a:pt x="36597" y="0"/>
                  </a:cubicBezTo>
                  <a:close/>
                </a:path>
              </a:pathLst>
            </a:custGeom>
            <a:blipFill>
              <a:blip r:embed="rId8"/>
              <a:stretch>
                <a:fillRect l="-31196" t="0" r="-3119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049573" y="500762"/>
            <a:ext cx="8115786" cy="214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1"/>
              </a:lnSpc>
            </a:pPr>
            <a:r>
              <a:rPr lang="en-US" sz="6144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T</a:t>
            </a:r>
            <a:r>
              <a:rPr lang="en-US" sz="6144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echnology Stack</a:t>
            </a:r>
          </a:p>
          <a:p>
            <a:pPr algn="ctr">
              <a:lnSpc>
                <a:spcPts val="8601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7392602" y="2448954"/>
            <a:ext cx="3596266" cy="3919855"/>
            <a:chOff x="0" y="0"/>
            <a:chExt cx="1048798" cy="11431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8798" cy="1143168"/>
            </a:xfrm>
            <a:custGeom>
              <a:avLst/>
              <a:gdLst/>
              <a:ahLst/>
              <a:cxnLst/>
              <a:rect r="r" b="b" t="t" l="l"/>
              <a:pathLst>
                <a:path h="1143168" w="1048798">
                  <a:moveTo>
                    <a:pt x="36597" y="0"/>
                  </a:moveTo>
                  <a:lnTo>
                    <a:pt x="1012201" y="0"/>
                  </a:lnTo>
                  <a:cubicBezTo>
                    <a:pt x="1021907" y="0"/>
                    <a:pt x="1031216" y="3856"/>
                    <a:pt x="1038079" y="10719"/>
                  </a:cubicBezTo>
                  <a:cubicBezTo>
                    <a:pt x="1044943" y="17582"/>
                    <a:pt x="1048798" y="26891"/>
                    <a:pt x="1048798" y="36597"/>
                  </a:cubicBezTo>
                  <a:lnTo>
                    <a:pt x="1048798" y="1106571"/>
                  </a:lnTo>
                  <a:cubicBezTo>
                    <a:pt x="1048798" y="1116277"/>
                    <a:pt x="1044943" y="1125586"/>
                    <a:pt x="1038079" y="1132449"/>
                  </a:cubicBezTo>
                  <a:cubicBezTo>
                    <a:pt x="1031216" y="1139313"/>
                    <a:pt x="1021907" y="1143168"/>
                    <a:pt x="1012201" y="1143168"/>
                  </a:cubicBezTo>
                  <a:lnTo>
                    <a:pt x="36597" y="1143168"/>
                  </a:lnTo>
                  <a:cubicBezTo>
                    <a:pt x="16385" y="1143168"/>
                    <a:pt x="0" y="1126783"/>
                    <a:pt x="0" y="1106571"/>
                  </a:cubicBezTo>
                  <a:lnTo>
                    <a:pt x="0" y="36597"/>
                  </a:lnTo>
                  <a:cubicBezTo>
                    <a:pt x="0" y="26891"/>
                    <a:pt x="3856" y="17582"/>
                    <a:pt x="10719" y="10719"/>
                  </a:cubicBezTo>
                  <a:cubicBezTo>
                    <a:pt x="17582" y="3856"/>
                    <a:pt x="26891" y="0"/>
                    <a:pt x="36597" y="0"/>
                  </a:cubicBezTo>
                  <a:close/>
                </a:path>
              </a:pathLst>
            </a:custGeom>
            <a:blipFill>
              <a:blip r:embed="rId9"/>
              <a:stretch>
                <a:fillRect l="-4498" t="0" r="-4498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17790" y="2448954"/>
            <a:ext cx="3596266" cy="3919855"/>
            <a:chOff x="0" y="0"/>
            <a:chExt cx="1048798" cy="11431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8798" cy="1143168"/>
            </a:xfrm>
            <a:custGeom>
              <a:avLst/>
              <a:gdLst/>
              <a:ahLst/>
              <a:cxnLst/>
              <a:rect r="r" b="b" t="t" l="l"/>
              <a:pathLst>
                <a:path h="1143168" w="1048798">
                  <a:moveTo>
                    <a:pt x="36597" y="0"/>
                  </a:moveTo>
                  <a:lnTo>
                    <a:pt x="1012201" y="0"/>
                  </a:lnTo>
                  <a:cubicBezTo>
                    <a:pt x="1021907" y="0"/>
                    <a:pt x="1031216" y="3856"/>
                    <a:pt x="1038079" y="10719"/>
                  </a:cubicBezTo>
                  <a:cubicBezTo>
                    <a:pt x="1044943" y="17582"/>
                    <a:pt x="1048798" y="26891"/>
                    <a:pt x="1048798" y="36597"/>
                  </a:cubicBezTo>
                  <a:lnTo>
                    <a:pt x="1048798" y="1106571"/>
                  </a:lnTo>
                  <a:cubicBezTo>
                    <a:pt x="1048798" y="1116277"/>
                    <a:pt x="1044943" y="1125586"/>
                    <a:pt x="1038079" y="1132449"/>
                  </a:cubicBezTo>
                  <a:cubicBezTo>
                    <a:pt x="1031216" y="1139313"/>
                    <a:pt x="1021907" y="1143168"/>
                    <a:pt x="1012201" y="1143168"/>
                  </a:cubicBezTo>
                  <a:lnTo>
                    <a:pt x="36597" y="1143168"/>
                  </a:lnTo>
                  <a:cubicBezTo>
                    <a:pt x="16385" y="1143168"/>
                    <a:pt x="0" y="1126783"/>
                    <a:pt x="0" y="1106571"/>
                  </a:cubicBezTo>
                  <a:lnTo>
                    <a:pt x="0" y="36597"/>
                  </a:lnTo>
                  <a:cubicBezTo>
                    <a:pt x="0" y="26891"/>
                    <a:pt x="3856" y="17582"/>
                    <a:pt x="10719" y="10719"/>
                  </a:cubicBezTo>
                  <a:cubicBezTo>
                    <a:pt x="17582" y="3856"/>
                    <a:pt x="26891" y="0"/>
                    <a:pt x="36597" y="0"/>
                  </a:cubicBezTo>
                  <a:close/>
                </a:path>
              </a:pathLst>
            </a:custGeom>
            <a:blipFill>
              <a:blip r:embed="rId10"/>
              <a:stretch>
                <a:fillRect l="-4498" t="0" r="-4498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692267" y="6511684"/>
            <a:ext cx="3282211" cy="987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0"/>
              </a:lnSpc>
              <a:spcBef>
                <a:spcPct val="0"/>
              </a:spcBef>
            </a:pPr>
            <a:r>
              <a:rPr lang="en-US" b="true" sz="5743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01867" y="7711172"/>
            <a:ext cx="2463011" cy="147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4054" indent="-307027" lvl="1">
              <a:lnSpc>
                <a:spcPts val="3981"/>
              </a:lnSpc>
              <a:buFont typeface="Arial"/>
              <a:buChar char="•"/>
            </a:pPr>
            <a:r>
              <a:rPr lang="en-US" sz="2844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HTML</a:t>
            </a:r>
          </a:p>
          <a:p>
            <a:pPr algn="l" marL="614054" indent="-307027" lvl="1">
              <a:lnSpc>
                <a:spcPts val="3981"/>
              </a:lnSpc>
              <a:buFont typeface="Arial"/>
              <a:buChar char="•"/>
            </a:pPr>
            <a:r>
              <a:rPr lang="en-US" sz="2844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CSS</a:t>
            </a:r>
          </a:p>
          <a:p>
            <a:pPr algn="l" marL="614054" indent="-307027" lvl="1">
              <a:lnSpc>
                <a:spcPts val="3981"/>
              </a:lnSpc>
              <a:buFont typeface="Arial"/>
              <a:buChar char="•"/>
            </a:pPr>
            <a:r>
              <a:rPr lang="en-US" sz="2844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JavaScript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53464" y="6511684"/>
            <a:ext cx="3074541" cy="200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0"/>
              </a:lnSpc>
              <a:spcBef>
                <a:spcPct val="0"/>
              </a:spcBef>
            </a:pPr>
            <a:r>
              <a:rPr lang="en-US" b="true" sz="5743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</a:t>
            </a:r>
            <a:r>
              <a:rPr lang="en-US" b="true" sz="5743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</a:t>
            </a:r>
          </a:p>
          <a:p>
            <a:pPr algn="ctr">
              <a:lnSpc>
                <a:spcPts val="804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653464" y="7701647"/>
            <a:ext cx="2618314" cy="188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260" indent="-291630" lvl="1">
              <a:lnSpc>
                <a:spcPts val="3782"/>
              </a:lnSpc>
              <a:buFont typeface="Arial"/>
              <a:buChar char="•"/>
            </a:pPr>
            <a:r>
              <a:rPr lang="en-US" sz="27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Spring Boot </a:t>
            </a:r>
          </a:p>
          <a:p>
            <a:pPr algn="l" marL="583260" indent="-291630" lvl="1">
              <a:lnSpc>
                <a:spcPts val="3782"/>
              </a:lnSpc>
              <a:buFont typeface="Arial"/>
              <a:buChar char="•"/>
            </a:pPr>
            <a:r>
              <a:rPr lang="en-US" sz="27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REST API</a:t>
            </a:r>
          </a:p>
          <a:p>
            <a:pPr algn="l" marL="583260" indent="-291630" lvl="1">
              <a:lnSpc>
                <a:spcPts val="3782"/>
              </a:lnSpc>
              <a:buFont typeface="Arial"/>
              <a:buChar char="•"/>
            </a:pPr>
            <a:r>
              <a:rPr lang="en-US" sz="27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Database</a:t>
            </a:r>
          </a:p>
          <a:p>
            <a:pPr algn="l" marL="583260" indent="-291630" lvl="1">
              <a:lnSpc>
                <a:spcPts val="3782"/>
              </a:lnSpc>
              <a:buFont typeface="Arial"/>
              <a:buChar char="•"/>
            </a:pPr>
            <a:r>
              <a:rPr lang="en-US" sz="27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PostgreSQL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70963" y="6511684"/>
            <a:ext cx="1882262" cy="200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0"/>
              </a:lnSpc>
              <a:spcBef>
                <a:spcPct val="0"/>
              </a:spcBef>
            </a:pPr>
            <a:r>
              <a:rPr lang="en-US" b="true" sz="5743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5743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ools</a:t>
            </a:r>
          </a:p>
          <a:p>
            <a:pPr algn="ctr">
              <a:lnSpc>
                <a:spcPts val="804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270963" y="7701647"/>
            <a:ext cx="4454095" cy="976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216" indent="-302608" lvl="1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STS (Spring Tool Suite)</a:t>
            </a:r>
          </a:p>
          <a:p>
            <a:pPr algn="l" marL="605216" indent="-302608" lvl="1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VS Code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62116" y="925830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0" y="1028700"/>
                </a:moveTo>
                <a:lnTo>
                  <a:pt x="3125884" y="1028700"/>
                </a:lnTo>
                <a:lnTo>
                  <a:pt x="3125884" y="0"/>
                </a:lnTo>
                <a:lnTo>
                  <a:pt x="0" y="0"/>
                </a:lnTo>
                <a:lnTo>
                  <a:pt x="0" y="1028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3125884" y="0"/>
                </a:moveTo>
                <a:lnTo>
                  <a:pt x="0" y="0"/>
                </a:lnTo>
                <a:lnTo>
                  <a:pt x="0" y="1028700"/>
                </a:lnTo>
                <a:lnTo>
                  <a:pt x="3125884" y="1028700"/>
                </a:lnTo>
                <a:lnTo>
                  <a:pt x="31258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067647"/>
            <a:ext cx="3219353" cy="3219353"/>
          </a:xfrm>
          <a:custGeom>
            <a:avLst/>
            <a:gdLst/>
            <a:ahLst/>
            <a:cxnLst/>
            <a:rect r="r" b="b" t="t" l="l"/>
            <a:pathLst>
              <a:path h="3219353" w="3219353">
                <a:moveTo>
                  <a:pt x="0" y="0"/>
                </a:moveTo>
                <a:lnTo>
                  <a:pt x="3219353" y="0"/>
                </a:lnTo>
                <a:lnTo>
                  <a:pt x="3219353" y="3219353"/>
                </a:lnTo>
                <a:lnTo>
                  <a:pt x="0" y="3219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49343" y="0"/>
            <a:ext cx="4738657" cy="3765078"/>
          </a:xfrm>
          <a:custGeom>
            <a:avLst/>
            <a:gdLst/>
            <a:ahLst/>
            <a:cxnLst/>
            <a:rect r="r" b="b" t="t" l="l"/>
            <a:pathLst>
              <a:path h="3765078" w="4738657">
                <a:moveTo>
                  <a:pt x="0" y="0"/>
                </a:moveTo>
                <a:lnTo>
                  <a:pt x="4738657" y="0"/>
                </a:lnTo>
                <a:lnTo>
                  <a:pt x="4738657" y="3765078"/>
                </a:lnTo>
                <a:lnTo>
                  <a:pt x="0" y="37650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65232" y="168763"/>
            <a:ext cx="10322905" cy="218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2"/>
              </a:lnSpc>
            </a:pPr>
            <a:r>
              <a:rPr lang="en-US" sz="6251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Results &amp; Demo</a:t>
            </a:r>
          </a:p>
          <a:p>
            <a:pPr algn="ctr">
              <a:lnSpc>
                <a:spcPts val="875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012431" y="2913908"/>
            <a:ext cx="7392073" cy="6154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</a:p>
          <a:p>
            <a:pPr algn="l">
              <a:lnSpc>
                <a:spcPts val="4062"/>
              </a:lnSpc>
            </a:pPr>
            <a:r>
              <a:rPr lang="en-US" sz="29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✅ Project UI Completed</a:t>
            </a:r>
          </a:p>
          <a:p>
            <a:pPr algn="l">
              <a:lnSpc>
                <a:spcPts val="4062"/>
              </a:lnSpc>
            </a:pPr>
          </a:p>
          <a:p>
            <a:pPr algn="l">
              <a:lnSpc>
                <a:spcPts val="4062"/>
              </a:lnSpc>
            </a:pPr>
            <a:r>
              <a:rPr lang="en-US" sz="29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✅ Dashboard Developed</a:t>
            </a:r>
          </a:p>
          <a:p>
            <a:pPr algn="l">
              <a:lnSpc>
                <a:spcPts val="4062"/>
              </a:lnSpc>
            </a:pPr>
          </a:p>
          <a:p>
            <a:pPr algn="l">
              <a:lnSpc>
                <a:spcPts val="4062"/>
              </a:lnSpc>
            </a:pPr>
            <a:r>
              <a:rPr lang="en-US" sz="29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✅ Decision Twin Workflow Designed</a:t>
            </a:r>
          </a:p>
          <a:p>
            <a:pPr algn="l">
              <a:lnSpc>
                <a:spcPts val="4062"/>
              </a:lnSpc>
            </a:pPr>
          </a:p>
          <a:p>
            <a:pPr algn="l">
              <a:lnSpc>
                <a:spcPts val="4062"/>
              </a:lnSpc>
            </a:pPr>
            <a:r>
              <a:rPr lang="en-US" sz="29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✅ Spring Boot Backend Created</a:t>
            </a:r>
          </a:p>
          <a:p>
            <a:pPr algn="l">
              <a:lnSpc>
                <a:spcPts val="4062"/>
              </a:lnSpc>
            </a:pPr>
          </a:p>
          <a:p>
            <a:pPr algn="l">
              <a:lnSpc>
                <a:spcPts val="4062"/>
              </a:lnSpc>
            </a:pPr>
            <a:r>
              <a:rPr lang="en-US" sz="29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✅ PostgreSQL Connected</a:t>
            </a:r>
          </a:p>
          <a:p>
            <a:pPr algn="l">
              <a:lnSpc>
                <a:spcPts val="4062"/>
              </a:lnSpc>
            </a:pPr>
          </a:p>
          <a:p>
            <a:pPr algn="l">
              <a:lnSpc>
                <a:spcPts val="4062"/>
              </a:lnSpc>
            </a:pPr>
            <a:r>
              <a:rPr lang="en-US" sz="29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✅ Rule-Based Risk Analysis Implemented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2137" y="1924263"/>
            <a:ext cx="4697176" cy="769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8"/>
              </a:lnSpc>
              <a:spcBef>
                <a:spcPct val="0"/>
              </a:spcBef>
            </a:pPr>
            <a:r>
              <a:rPr lang="en-US" b="true" sz="4491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Current Progress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60360" y="1924263"/>
            <a:ext cx="3101756" cy="769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8"/>
              </a:lnSpc>
              <a:spcBef>
                <a:spcPct val="0"/>
              </a:spcBef>
            </a:pPr>
            <a:r>
              <a:rPr lang="en-US" b="true" sz="4491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4491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emo 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65179" y="3295826"/>
            <a:ext cx="6368328" cy="538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Database Upgrade</a:t>
            </a:r>
          </a:p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↓</a:t>
            </a:r>
          </a:p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Decision Twin Simulation</a:t>
            </a:r>
          </a:p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↓</a:t>
            </a:r>
          </a:p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Blast Radius Analysis</a:t>
            </a:r>
          </a:p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↓</a:t>
            </a:r>
          </a:p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Risk Score Generation</a:t>
            </a:r>
          </a:p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↓</a:t>
            </a:r>
          </a:p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Deployment Recommendation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49343" y="0"/>
            <a:ext cx="4738657" cy="3765078"/>
          </a:xfrm>
          <a:custGeom>
            <a:avLst/>
            <a:gdLst/>
            <a:ahLst/>
            <a:cxnLst/>
            <a:rect r="r" b="b" t="t" l="l"/>
            <a:pathLst>
              <a:path h="3765078" w="4738657">
                <a:moveTo>
                  <a:pt x="0" y="0"/>
                </a:moveTo>
                <a:lnTo>
                  <a:pt x="4738657" y="0"/>
                </a:lnTo>
                <a:lnTo>
                  <a:pt x="4738657" y="3765078"/>
                </a:lnTo>
                <a:lnTo>
                  <a:pt x="0" y="37650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3125884" y="0"/>
                </a:moveTo>
                <a:lnTo>
                  <a:pt x="0" y="0"/>
                </a:lnTo>
                <a:lnTo>
                  <a:pt x="0" y="1028700"/>
                </a:lnTo>
                <a:lnTo>
                  <a:pt x="3125884" y="1028700"/>
                </a:lnTo>
                <a:lnTo>
                  <a:pt x="31258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5162116" y="925830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0" y="1028700"/>
                </a:moveTo>
                <a:lnTo>
                  <a:pt x="3125884" y="1028700"/>
                </a:lnTo>
                <a:lnTo>
                  <a:pt x="3125884" y="0"/>
                </a:lnTo>
                <a:lnTo>
                  <a:pt x="0" y="0"/>
                </a:lnTo>
                <a:lnTo>
                  <a:pt x="0" y="10287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067647"/>
            <a:ext cx="3219353" cy="3219353"/>
          </a:xfrm>
          <a:custGeom>
            <a:avLst/>
            <a:gdLst/>
            <a:ahLst/>
            <a:cxnLst/>
            <a:rect r="r" b="b" t="t" l="l"/>
            <a:pathLst>
              <a:path h="3219353" w="3219353">
                <a:moveTo>
                  <a:pt x="0" y="0"/>
                </a:moveTo>
                <a:lnTo>
                  <a:pt x="3219353" y="0"/>
                </a:lnTo>
                <a:lnTo>
                  <a:pt x="3219353" y="3219353"/>
                </a:lnTo>
                <a:lnTo>
                  <a:pt x="0" y="3219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65232" y="168763"/>
            <a:ext cx="10322905" cy="1074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2"/>
              </a:lnSpc>
              <a:spcBef>
                <a:spcPct val="0"/>
              </a:spcBef>
            </a:pPr>
            <a:r>
              <a:rPr lang="en-US" sz="6251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Demo video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62116" y="925830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0" y="1028700"/>
                </a:moveTo>
                <a:lnTo>
                  <a:pt x="3125884" y="1028700"/>
                </a:lnTo>
                <a:lnTo>
                  <a:pt x="3125884" y="0"/>
                </a:lnTo>
                <a:lnTo>
                  <a:pt x="0" y="0"/>
                </a:lnTo>
                <a:lnTo>
                  <a:pt x="0" y="1028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3125884" y="0"/>
                </a:moveTo>
                <a:lnTo>
                  <a:pt x="0" y="0"/>
                </a:lnTo>
                <a:lnTo>
                  <a:pt x="0" y="1028700"/>
                </a:lnTo>
                <a:lnTo>
                  <a:pt x="3125884" y="1028700"/>
                </a:lnTo>
                <a:lnTo>
                  <a:pt x="31258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067647"/>
            <a:ext cx="3219353" cy="3219353"/>
          </a:xfrm>
          <a:custGeom>
            <a:avLst/>
            <a:gdLst/>
            <a:ahLst/>
            <a:cxnLst/>
            <a:rect r="r" b="b" t="t" l="l"/>
            <a:pathLst>
              <a:path h="3219353" w="3219353">
                <a:moveTo>
                  <a:pt x="0" y="0"/>
                </a:moveTo>
                <a:lnTo>
                  <a:pt x="3219353" y="0"/>
                </a:lnTo>
                <a:lnTo>
                  <a:pt x="3219353" y="3219353"/>
                </a:lnTo>
                <a:lnTo>
                  <a:pt x="0" y="3219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4538413" y="-476490"/>
            <a:ext cx="3273097" cy="4226077"/>
          </a:xfrm>
          <a:custGeom>
            <a:avLst/>
            <a:gdLst/>
            <a:ahLst/>
            <a:cxnLst/>
            <a:rect r="r" b="b" t="t" l="l"/>
            <a:pathLst>
              <a:path h="4226077" w="3273097">
                <a:moveTo>
                  <a:pt x="3273097" y="4226077"/>
                </a:moveTo>
                <a:lnTo>
                  <a:pt x="0" y="4226077"/>
                </a:lnTo>
                <a:lnTo>
                  <a:pt x="0" y="0"/>
                </a:lnTo>
                <a:lnTo>
                  <a:pt x="3273097" y="0"/>
                </a:lnTo>
                <a:lnTo>
                  <a:pt x="3273097" y="422607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3850840" y="3208598"/>
          <a:ext cx="5657850" cy="5657850"/>
        </p:xfrm>
        <a:graphic>
          <a:graphicData uri="http://schemas.openxmlformats.org/presentationml/2006/ole">
            <p:oleObj imgW="6781800" imgH="67818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450299" y="1355049"/>
            <a:ext cx="15921284" cy="239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7"/>
              </a:lnSpc>
            </a:pPr>
            <a:r>
              <a:rPr lang="en-US" sz="4540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Comparison with Existing Solutions</a:t>
            </a:r>
          </a:p>
          <a:p>
            <a:pPr algn="ctr">
              <a:lnSpc>
                <a:spcPts val="6357"/>
              </a:lnSpc>
            </a:pPr>
            <a:r>
              <a:rPr lang="en-US" sz="4540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Existi</a:t>
            </a:r>
            <a:r>
              <a:rPr lang="en-US" sz="4540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ng Solutions AegisIQ</a:t>
            </a:r>
          </a:p>
          <a:p>
            <a:pPr algn="ctr">
              <a:lnSpc>
                <a:spcPts val="635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068647" y="7067647"/>
            <a:ext cx="3219353" cy="3219353"/>
          </a:xfrm>
          <a:custGeom>
            <a:avLst/>
            <a:gdLst/>
            <a:ahLst/>
            <a:cxnLst/>
            <a:rect r="r" b="b" t="t" l="l"/>
            <a:pathLst>
              <a:path h="3219353" w="3219353">
                <a:moveTo>
                  <a:pt x="3219353" y="0"/>
                </a:moveTo>
                <a:lnTo>
                  <a:pt x="0" y="0"/>
                </a:lnTo>
                <a:lnTo>
                  <a:pt x="0" y="3219353"/>
                </a:lnTo>
                <a:lnTo>
                  <a:pt x="3219353" y="3219353"/>
                </a:lnTo>
                <a:lnTo>
                  <a:pt x="32193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4738657" cy="3765078"/>
          </a:xfrm>
          <a:custGeom>
            <a:avLst/>
            <a:gdLst/>
            <a:ahLst/>
            <a:cxnLst/>
            <a:rect r="r" b="b" t="t" l="l"/>
            <a:pathLst>
              <a:path h="3765078" w="4738657">
                <a:moveTo>
                  <a:pt x="4738657" y="0"/>
                </a:moveTo>
                <a:lnTo>
                  <a:pt x="0" y="0"/>
                </a:lnTo>
                <a:lnTo>
                  <a:pt x="0" y="3765078"/>
                </a:lnTo>
                <a:lnTo>
                  <a:pt x="4738657" y="3765078"/>
                </a:lnTo>
                <a:lnTo>
                  <a:pt x="473865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62116" y="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0" y="0"/>
                </a:moveTo>
                <a:lnTo>
                  <a:pt x="3125884" y="0"/>
                </a:lnTo>
                <a:lnTo>
                  <a:pt x="312588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0" y="925830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3125884" y="1028700"/>
                </a:moveTo>
                <a:lnTo>
                  <a:pt x="0" y="1028700"/>
                </a:lnTo>
                <a:lnTo>
                  <a:pt x="0" y="0"/>
                </a:lnTo>
                <a:lnTo>
                  <a:pt x="3125884" y="0"/>
                </a:lnTo>
                <a:lnTo>
                  <a:pt x="3125884" y="10287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7619" y="3293933"/>
            <a:ext cx="4712128" cy="47121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25136" t="0" r="-2513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979747" y="603770"/>
            <a:ext cx="9941278" cy="2075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4"/>
              </a:lnSpc>
            </a:pPr>
            <a:r>
              <a:rPr lang="en-US" sz="5953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Summary &amp; Future Work</a:t>
            </a:r>
          </a:p>
          <a:p>
            <a:pPr algn="ctr">
              <a:lnSpc>
                <a:spcPts val="8334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306260" y="1803960"/>
            <a:ext cx="2432513" cy="68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  <a:spcBef>
                <a:spcPct val="0"/>
              </a:spcBef>
            </a:pPr>
            <a:r>
              <a:rPr lang="en-US" sz="4053">
                <a:solidFill>
                  <a:srgbClr val="22587D"/>
                </a:solidFill>
                <a:latin typeface="Archive"/>
                <a:ea typeface="Archive"/>
                <a:cs typeface="Archive"/>
                <a:sym typeface="Archive"/>
              </a:rPr>
              <a:t>Summary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20247" y="4945905"/>
            <a:ext cx="3564985" cy="68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  <a:spcBef>
                <a:spcPct val="0"/>
              </a:spcBef>
            </a:pPr>
            <a:r>
              <a:rPr lang="en-US" sz="4053">
                <a:solidFill>
                  <a:srgbClr val="22587D"/>
                </a:solidFill>
                <a:latin typeface="Archive"/>
                <a:ea typeface="Archive"/>
                <a:cs typeface="Archive"/>
                <a:sym typeface="Archive"/>
              </a:rPr>
              <a:t>Fut</a:t>
            </a:r>
            <a:r>
              <a:rPr lang="en-US" sz="4053">
                <a:solidFill>
                  <a:srgbClr val="22587D"/>
                </a:solidFill>
                <a:latin typeface="Archive"/>
                <a:ea typeface="Archive"/>
                <a:cs typeface="Archive"/>
                <a:sym typeface="Archive"/>
              </a:rPr>
              <a:t>ure Work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52263" y="8295416"/>
            <a:ext cx="2140507" cy="68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  <a:spcBef>
                <a:spcPct val="0"/>
              </a:spcBef>
            </a:pPr>
            <a:r>
              <a:rPr lang="en-US" sz="4053">
                <a:solidFill>
                  <a:srgbClr val="22587D"/>
                </a:solidFill>
                <a:latin typeface="Archive"/>
                <a:ea typeface="Archive"/>
                <a:cs typeface="Archive"/>
                <a:sym typeface="Archive"/>
              </a:rPr>
              <a:t>Taglin</a:t>
            </a:r>
            <a:r>
              <a:rPr lang="en-US" sz="4053">
                <a:solidFill>
                  <a:srgbClr val="22587D"/>
                </a:solidFill>
                <a:latin typeface="Archive"/>
                <a:ea typeface="Archive"/>
                <a:cs typeface="Archive"/>
                <a:sym typeface="Archive"/>
              </a:rPr>
              <a:t>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31199" y="2686655"/>
            <a:ext cx="11395703" cy="228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imulates infrastructure changes before deployment.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Predicts deployment risks.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Identifies affected services.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Provides safer deployment recommendations.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Helps reduce downtime and business impact.</a:t>
            </a:r>
          </a:p>
          <a:p>
            <a:pPr algn="l">
              <a:lnSpc>
                <a:spcPts val="306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631199" y="5824020"/>
            <a:ext cx="11395703" cy="267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achine Learning-based Risk Prediction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Kubernetes Integration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Multi-Cloud Support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AI Chat Assistant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Automatic Rollback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Self-Healing Infrastructure</a:t>
            </a:r>
          </a:p>
          <a:p>
            <a:pPr algn="l">
              <a:lnSpc>
                <a:spcPts val="3063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644589" y="9108834"/>
            <a:ext cx="4188369" cy="363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Predict. Simulate. Protect.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934152" y="4933152"/>
            <a:ext cx="5353848" cy="5353848"/>
          </a:xfrm>
          <a:custGeom>
            <a:avLst/>
            <a:gdLst/>
            <a:ahLst/>
            <a:cxnLst/>
            <a:rect r="r" b="b" t="t" l="l"/>
            <a:pathLst>
              <a:path h="5353848" w="5353848">
                <a:moveTo>
                  <a:pt x="5353848" y="0"/>
                </a:moveTo>
                <a:lnTo>
                  <a:pt x="0" y="0"/>
                </a:lnTo>
                <a:lnTo>
                  <a:pt x="0" y="5353848"/>
                </a:lnTo>
                <a:lnTo>
                  <a:pt x="5353848" y="5353848"/>
                </a:lnTo>
                <a:lnTo>
                  <a:pt x="53538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58209" y="0"/>
            <a:ext cx="7529791" cy="5982762"/>
          </a:xfrm>
          <a:custGeom>
            <a:avLst/>
            <a:gdLst/>
            <a:ahLst/>
            <a:cxnLst/>
            <a:rect r="r" b="b" t="t" l="l"/>
            <a:pathLst>
              <a:path h="5982762" w="7529791">
                <a:moveTo>
                  <a:pt x="0" y="0"/>
                </a:moveTo>
                <a:lnTo>
                  <a:pt x="7529791" y="0"/>
                </a:lnTo>
                <a:lnTo>
                  <a:pt x="7529791" y="5982762"/>
                </a:lnTo>
                <a:lnTo>
                  <a:pt x="0" y="5982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145094" y="6171223"/>
            <a:ext cx="5284984" cy="4199160"/>
          </a:xfrm>
          <a:custGeom>
            <a:avLst/>
            <a:gdLst/>
            <a:ahLst/>
            <a:cxnLst/>
            <a:rect r="r" b="b" t="t" l="l"/>
            <a:pathLst>
              <a:path h="4199160" w="5284984">
                <a:moveTo>
                  <a:pt x="5284984" y="4199160"/>
                </a:moveTo>
                <a:lnTo>
                  <a:pt x="0" y="4199160"/>
                </a:lnTo>
                <a:lnTo>
                  <a:pt x="0" y="0"/>
                </a:lnTo>
                <a:lnTo>
                  <a:pt x="5284984" y="0"/>
                </a:lnTo>
                <a:lnTo>
                  <a:pt x="5284984" y="41991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40150" y="474433"/>
            <a:ext cx="3368473" cy="1108534"/>
          </a:xfrm>
          <a:custGeom>
            <a:avLst/>
            <a:gdLst/>
            <a:ahLst/>
            <a:cxnLst/>
            <a:rect r="r" b="b" t="t" l="l"/>
            <a:pathLst>
              <a:path h="1108534" w="3368473">
                <a:moveTo>
                  <a:pt x="3368472" y="0"/>
                </a:moveTo>
                <a:lnTo>
                  <a:pt x="0" y="0"/>
                </a:lnTo>
                <a:lnTo>
                  <a:pt x="0" y="1108534"/>
                </a:lnTo>
                <a:lnTo>
                  <a:pt x="3368472" y="1108534"/>
                </a:lnTo>
                <a:lnTo>
                  <a:pt x="336847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8641" y="3524296"/>
            <a:ext cx="9150719" cy="205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06212" y="5703487"/>
            <a:ext cx="4875576" cy="83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By AgeeisIQ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DAHRBMmbgAU</dc:identifier>
  <dcterms:modified xsi:type="dcterms:W3CDTF">2011-08-01T06:04:30Z</dcterms:modified>
  <cp:revision>1</cp:revision>
  <dc:title>Blue White Geometric Modern Project Presentation</dc:title>
</cp:coreProperties>
</file>